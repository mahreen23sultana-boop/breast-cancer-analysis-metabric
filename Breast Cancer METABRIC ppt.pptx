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4"/>
  </p:notesMasterIdLst>
  <p:sldIdLst>
    <p:sldId id="256" r:id="rId2"/>
    <p:sldId id="715" r:id="rId3"/>
    <p:sldId id="714" r:id="rId4"/>
    <p:sldId id="674" r:id="rId5"/>
    <p:sldId id="716" r:id="rId6"/>
    <p:sldId id="717" r:id="rId7"/>
    <p:sldId id="718" r:id="rId8"/>
    <p:sldId id="719" r:id="rId9"/>
    <p:sldId id="721" r:id="rId10"/>
    <p:sldId id="711" r:id="rId11"/>
    <p:sldId id="303" r:id="rId12"/>
    <p:sldId id="72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p:scale>
          <a:sx n="70" d="100"/>
          <a:sy n="70" d="100"/>
        </p:scale>
        <p:origin x="1061" y="206"/>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27-03-2026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049697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b="1" dirty="0">
              <a:latin typeface="Calibri" panose="020F0502020204030204" pitchFamily="34" charset="0"/>
            </a:endParaRPr>
          </a:p>
        </p:txBody>
      </p:sp>
      <p:sp>
        <p:nvSpPr>
          <p:cNvPr id="4" name="TextBox 3">
            <a:extLst>
              <a:ext uri="{FF2B5EF4-FFF2-40B4-BE49-F238E27FC236}">
                <a16:creationId xmlns:a16="http://schemas.microsoft.com/office/drawing/2014/main" id="{726742AE-EEB0-D45E-FA1E-6705410ACA1C}"/>
              </a:ext>
            </a:extLst>
          </p:cNvPr>
          <p:cNvSpPr txBox="1"/>
          <p:nvPr/>
        </p:nvSpPr>
        <p:spPr>
          <a:xfrm>
            <a:off x="778329" y="2788290"/>
            <a:ext cx="10635342" cy="523220"/>
          </a:xfrm>
          <a:prstGeom prst="rect">
            <a:avLst/>
          </a:prstGeom>
          <a:noFill/>
        </p:spPr>
        <p:txBody>
          <a:bodyPr wrap="square">
            <a:spAutoFit/>
          </a:bodyPr>
          <a:lstStyle/>
          <a:p>
            <a:r>
              <a:rPr lang="en-US" sz="2800" b="1" i="1" dirty="0">
                <a:solidFill>
                  <a:schemeClr val="bg1"/>
                </a:solidFill>
              </a:rPr>
              <a:t>Title: </a:t>
            </a:r>
            <a:r>
              <a:rPr lang="en-US" sz="2800" i="1" dirty="0">
                <a:solidFill>
                  <a:schemeClr val="bg1"/>
                </a:solidFill>
              </a:rPr>
              <a:t>Predictive Analytics in Oncology: METABRIC Survival Analysis</a:t>
            </a:r>
          </a:p>
        </p:txBody>
      </p:sp>
      <p:sp>
        <p:nvSpPr>
          <p:cNvPr id="6" name="Rectangle 2">
            <a:extLst>
              <a:ext uri="{FF2B5EF4-FFF2-40B4-BE49-F238E27FC236}">
                <a16:creationId xmlns:a16="http://schemas.microsoft.com/office/drawing/2014/main" id="{DB0E89E9-DFB0-4573-DF49-1AE17098659C}"/>
              </a:ext>
            </a:extLst>
          </p:cNvPr>
          <p:cNvSpPr>
            <a:spLocks noChangeArrowheads="1"/>
          </p:cNvSpPr>
          <p:nvPr/>
        </p:nvSpPr>
        <p:spPr bwMode="auto">
          <a:xfrm>
            <a:off x="762001" y="3429000"/>
            <a:ext cx="1015277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Subtitle:</a:t>
            </a:r>
            <a:r>
              <a:rPr kumimoji="0" lang="en-US" alt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 An End-to-End Machine Learning &amp; Clinical Dashboard Project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B281732E-DDB8-3956-491C-CBC74BC20AFF}"/>
              </a:ext>
            </a:extLst>
          </p:cNvPr>
          <p:cNvSpPr txBox="1"/>
          <p:nvPr/>
        </p:nvSpPr>
        <p:spPr>
          <a:xfrm>
            <a:off x="580590" y="5868556"/>
            <a:ext cx="6156960"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solidFill>
                <a:effectLst/>
                <a:latin typeface="Arial" panose="020B0604020202020204" pitchFamily="34" charset="0"/>
              </a:rPr>
              <a:t>Presented by:</a:t>
            </a:r>
            <a:r>
              <a:rPr kumimoji="0" lang="en-US" altLang="en-US" sz="2800" b="0" i="0" u="none" strike="noStrike" cap="none" normalizeH="0" baseline="0" dirty="0">
                <a:ln>
                  <a:noFill/>
                </a:ln>
                <a:solidFill>
                  <a:schemeClr val="bg1"/>
                </a:solidFill>
                <a:effectLst/>
                <a:latin typeface="Arial" panose="020B0604020202020204" pitchFamily="34" charset="0"/>
              </a:rPr>
              <a:t> </a:t>
            </a:r>
            <a:r>
              <a:rPr lang="en-US" altLang="en-US" sz="2800" dirty="0" err="1">
                <a:solidFill>
                  <a:schemeClr val="bg1"/>
                </a:solidFill>
                <a:latin typeface="Arial" panose="020B0604020202020204" pitchFamily="34" charset="0"/>
              </a:rPr>
              <a:t>Mahireen</a:t>
            </a:r>
            <a:r>
              <a:rPr lang="en-US" altLang="en-US" sz="2800" dirty="0">
                <a:solidFill>
                  <a:schemeClr val="bg1"/>
                </a:solidFill>
                <a:latin typeface="Arial" panose="020B0604020202020204" pitchFamily="34" charset="0"/>
              </a:rPr>
              <a:t> Sultana</a:t>
            </a:r>
            <a:endParaRPr kumimoji="0" lang="en-US" altLang="en-US" sz="2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7D2BE-A9B2-66FD-5CA0-63426904A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87301-A60C-8F7F-FE30-FDE9A53E266E}"/>
              </a:ext>
            </a:extLst>
          </p:cNvPr>
          <p:cNvSpPr>
            <a:spLocks noGrp="1"/>
          </p:cNvSpPr>
          <p:nvPr>
            <p:ph type="title"/>
          </p:nvPr>
        </p:nvSpPr>
        <p:spPr>
          <a:xfrm>
            <a:off x="678884" y="121920"/>
            <a:ext cx="10834234" cy="1094521"/>
          </a:xfrm>
        </p:spPr>
        <p:txBody>
          <a:bodyPr>
            <a:normAutofit/>
          </a:bodyPr>
          <a:lstStyle/>
          <a:p>
            <a:r>
              <a:rPr lang="en-US" dirty="0"/>
              <a:t>Objective: To showcase a complete Data Science lifecycle from raw CSV to a deployed user interface.</a:t>
            </a:r>
            <a:endParaRPr lang="en-IN" dirty="0"/>
          </a:p>
        </p:txBody>
      </p:sp>
      <p:sp>
        <p:nvSpPr>
          <p:cNvPr id="3" name="Content Placeholder 2">
            <a:extLst>
              <a:ext uri="{FF2B5EF4-FFF2-40B4-BE49-F238E27FC236}">
                <a16:creationId xmlns:a16="http://schemas.microsoft.com/office/drawing/2014/main" id="{5CCECCC6-7419-5525-2051-C64C12D0A1BC}"/>
              </a:ext>
            </a:extLst>
          </p:cNvPr>
          <p:cNvSpPr>
            <a:spLocks noGrp="1"/>
          </p:cNvSpPr>
          <p:nvPr>
            <p:ph idx="1"/>
          </p:nvPr>
        </p:nvSpPr>
        <p:spPr/>
        <p:txBody>
          <a:bodyPr/>
          <a:lstStyle/>
          <a:p>
            <a:r>
              <a:rPr lang="en-IN" b="1" dirty="0"/>
              <a:t>End-to-End Workflow:</a:t>
            </a:r>
            <a:endParaRPr lang="en-IN" dirty="0"/>
          </a:p>
          <a:p>
            <a:r>
              <a:rPr lang="en-IN" b="1" dirty="0"/>
              <a:t>Data Sourcing:</a:t>
            </a:r>
            <a:r>
              <a:rPr lang="en-IN" dirty="0"/>
              <a:t> METABRIC Dataset (Molecular Taxonomy of Breast Cancer International Consortium).</a:t>
            </a:r>
          </a:p>
          <a:p>
            <a:r>
              <a:rPr lang="en-IN" b="1" dirty="0"/>
              <a:t>Preprocessing:</a:t>
            </a:r>
            <a:r>
              <a:rPr lang="en-IN" dirty="0"/>
              <a:t> Handling clinical features, missing values, and categorical encoding.</a:t>
            </a:r>
          </a:p>
          <a:p>
            <a:r>
              <a:rPr lang="en-IN" b="1" dirty="0"/>
              <a:t>Model Training:</a:t>
            </a:r>
            <a:r>
              <a:rPr lang="en-IN" dirty="0"/>
              <a:t> Implementing </a:t>
            </a:r>
            <a:r>
              <a:rPr lang="en-IN" b="1" dirty="0"/>
              <a:t>Random Forest</a:t>
            </a:r>
            <a:r>
              <a:rPr lang="en-IN" dirty="0"/>
              <a:t> for survival classification.</a:t>
            </a:r>
          </a:p>
          <a:p>
            <a:r>
              <a:rPr lang="en-IN" b="1" dirty="0"/>
              <a:t>Visualization:</a:t>
            </a:r>
            <a:r>
              <a:rPr lang="en-IN" dirty="0"/>
              <a:t> Designing a high-fidelity </a:t>
            </a:r>
            <a:r>
              <a:rPr lang="en-IN" b="1" dirty="0"/>
              <a:t>Power BI</a:t>
            </a:r>
            <a:r>
              <a:rPr lang="en-IN" dirty="0"/>
              <a:t> Clinical Dashboard.</a:t>
            </a:r>
          </a:p>
          <a:p>
            <a:r>
              <a:rPr lang="en-IN" b="1" dirty="0"/>
              <a:t>Deployment:</a:t>
            </a:r>
            <a:r>
              <a:rPr lang="en-IN" dirty="0"/>
              <a:t> Building a functional </a:t>
            </a:r>
            <a:r>
              <a:rPr lang="en-IN" b="1" dirty="0" err="1"/>
              <a:t>Streamlit</a:t>
            </a:r>
            <a:r>
              <a:rPr lang="en-IN" dirty="0"/>
              <a:t> Web App for real-time predictions.</a:t>
            </a:r>
          </a:p>
          <a:p>
            <a:endParaRPr lang="en-IN" dirty="0"/>
          </a:p>
        </p:txBody>
      </p:sp>
    </p:spTree>
    <p:extLst>
      <p:ext uri="{BB962C8B-B14F-4D97-AF65-F5344CB8AC3E}">
        <p14:creationId xmlns:p14="http://schemas.microsoft.com/office/powerpoint/2010/main" val="3546458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250371" y="132807"/>
            <a:ext cx="11360718" cy="716280"/>
          </a:xfrm>
        </p:spPr>
        <p:txBody>
          <a:bodyPr/>
          <a:lstStyle/>
          <a:p>
            <a:r>
              <a:rPr lang="en-IN" dirty="0"/>
              <a:t>Problem Statement &amp; Dataset Profile</a:t>
            </a:r>
          </a:p>
        </p:txBody>
      </p:sp>
      <p:sp>
        <p:nvSpPr>
          <p:cNvPr id="4" name="Rectangle 1">
            <a:extLst>
              <a:ext uri="{FF2B5EF4-FFF2-40B4-BE49-F238E27FC236}">
                <a16:creationId xmlns:a16="http://schemas.microsoft.com/office/drawing/2014/main" id="{06AF91EA-ADAE-CC31-A1E8-CA5AEF427C03}"/>
              </a:ext>
            </a:extLst>
          </p:cNvPr>
          <p:cNvSpPr>
            <a:spLocks noGrp="1" noChangeArrowheads="1"/>
          </p:cNvSpPr>
          <p:nvPr>
            <p:ph idx="1"/>
          </p:nvPr>
        </p:nvSpPr>
        <p:spPr bwMode="auto">
          <a:xfrm>
            <a:off x="250372" y="1223265"/>
            <a:ext cx="7489372" cy="4739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The Problem:</a:t>
            </a:r>
            <a:r>
              <a:rPr kumimoji="0" lang="en-US" altLang="en-US" sz="2000" b="0" i="0" u="none" strike="noStrike" cap="none" normalizeH="0" baseline="0" dirty="0">
                <a:ln>
                  <a:noFill/>
                </a:ln>
                <a:solidFill>
                  <a:schemeClr val="tx1"/>
                </a:solidFill>
                <a:effectLst/>
                <a:latin typeface="Arial" panose="020B0604020202020204" pitchFamily="34" charset="0"/>
              </a:rPr>
              <a:t> Breast cancer survival is influenced by a combination of clinical factors (Age, Stage) and biological factors (Mutations). Manual risk assessment is time-consuming and prone to human error.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The Dataset:</a:t>
            </a:r>
            <a:r>
              <a:rPr kumimoji="0" lang="en-US" altLang="en-US" sz="2000" b="0" i="0" u="none" strike="noStrike" cap="none" normalizeH="0" baseline="0" dirty="0">
                <a:ln>
                  <a:noFill/>
                </a:ln>
                <a:solidFill>
                  <a:schemeClr val="tx1"/>
                </a:solidFill>
                <a:effectLst/>
                <a:latin typeface="Arial" panose="020B0604020202020204" pitchFamily="34" charset="0"/>
              </a:rPr>
              <a:t> METABRIC (Molecular Taxonomy of Breast Cancer International Consortium).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Size:</a:t>
            </a:r>
            <a:r>
              <a:rPr kumimoji="0" lang="en-US" altLang="en-US" sz="2000" b="0" i="0" u="none" strike="noStrike" cap="none" normalizeH="0" baseline="0" dirty="0">
                <a:ln>
                  <a:noFill/>
                </a:ln>
                <a:solidFill>
                  <a:schemeClr val="tx1"/>
                </a:solidFill>
                <a:effectLst/>
                <a:latin typeface="Arial" panose="020B0604020202020204" pitchFamily="34" charset="0"/>
              </a:rPr>
              <a:t> ~2,504 Patient Records.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Target Variable:</a:t>
            </a:r>
            <a:r>
              <a:rPr kumimoji="0" lang="en-US" altLang="en-US" sz="2000" b="0" i="0" u="none" strike="noStrike" cap="none" normalizeH="0" baseline="0" dirty="0">
                <a:ln>
                  <a:noFill/>
                </a:ln>
                <a:solidFill>
                  <a:schemeClr val="tx1"/>
                </a:solidFill>
                <a:effectLst/>
                <a:latin typeface="Arial" panose="020B0604020202020204" pitchFamily="34" charset="0"/>
              </a:rPr>
              <a:t> Overall Survival Status (Living vs. Deceased).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Key Features:</a:t>
            </a:r>
            <a:r>
              <a:rPr kumimoji="0" lang="en-US" altLang="en-US" sz="2000" b="0" i="0" u="none" strike="noStrike" cap="none" normalizeH="0" baseline="0" dirty="0">
                <a:ln>
                  <a:noFill/>
                </a:ln>
                <a:solidFill>
                  <a:schemeClr val="tx1"/>
                </a:solidFill>
                <a:effectLst/>
                <a:latin typeface="Arial" panose="020B0604020202020204" pitchFamily="34" charset="0"/>
              </a:rPr>
              <a:t> Age, Tumor Size, Tumor Stage, Lymph Node Involvement, and Treatment History</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1" name="Picture 3">
            <a:extLst>
              <a:ext uri="{FF2B5EF4-FFF2-40B4-BE49-F238E27FC236}">
                <a16:creationId xmlns:a16="http://schemas.microsoft.com/office/drawing/2014/main" id="{A3693578-3AE0-DDC8-7D7C-65B5204AE4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9744" y="1045029"/>
            <a:ext cx="4201884" cy="4419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80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391500" y="361420"/>
            <a:ext cx="11223558" cy="838200"/>
          </a:xfrm>
        </p:spPr>
        <p:txBody>
          <a:bodyPr/>
          <a:lstStyle/>
          <a:p>
            <a:r>
              <a:rPr lang="en-IN" dirty="0"/>
              <a:t>Data Preprocessing &amp; Feature Engineering</a:t>
            </a:r>
          </a:p>
        </p:txBody>
      </p:sp>
      <p:sp>
        <p:nvSpPr>
          <p:cNvPr id="4" name="Rectangle 1">
            <a:extLst>
              <a:ext uri="{FF2B5EF4-FFF2-40B4-BE49-F238E27FC236}">
                <a16:creationId xmlns:a16="http://schemas.microsoft.com/office/drawing/2014/main" id="{D46870F4-330A-BE18-C9D2-EDC028827AFE}"/>
              </a:ext>
            </a:extLst>
          </p:cNvPr>
          <p:cNvSpPr>
            <a:spLocks noGrp="1" noChangeArrowheads="1"/>
          </p:cNvSpPr>
          <p:nvPr>
            <p:ph idx="1"/>
          </p:nvPr>
        </p:nvSpPr>
        <p:spPr bwMode="auto">
          <a:xfrm>
            <a:off x="289559" y="1965061"/>
            <a:ext cx="11477897"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Data Cleaning:</a:t>
            </a:r>
            <a:r>
              <a:rPr kumimoji="0" lang="en-US" altLang="en-US" sz="2000" b="0" i="0" u="none" strike="noStrike" cap="none" normalizeH="0" baseline="0" dirty="0">
                <a:ln>
                  <a:noFill/>
                </a:ln>
                <a:solidFill>
                  <a:schemeClr val="tx1"/>
                </a:solidFill>
                <a:effectLst/>
                <a:latin typeface="Arial" panose="020B0604020202020204" pitchFamily="34" charset="0"/>
              </a:rPr>
              <a:t> * Addressed missing values in critical columns like </a:t>
            </a:r>
            <a:r>
              <a:rPr kumimoji="0" lang="en-US" altLang="en-US" sz="2000" b="0" i="0" u="none" strike="noStrike" cap="none" normalizeH="0" baseline="0" dirty="0">
                <a:ln>
                  <a:noFill/>
                </a:ln>
                <a:solidFill>
                  <a:schemeClr val="tx1"/>
                </a:solidFill>
                <a:effectLst/>
                <a:latin typeface="Arial Unicode MS"/>
              </a:rPr>
              <a:t>Tumor Size</a:t>
            </a:r>
            <a:r>
              <a:rPr kumimoji="0" lang="en-US" altLang="en-US" sz="2000" b="0" i="0" u="none" strike="noStrike" cap="none" normalizeH="0" baseline="0" dirty="0">
                <a:ln>
                  <a:noFill/>
                </a:ln>
                <a:solidFill>
                  <a:schemeClr val="tx1"/>
                </a:solidFill>
                <a:effectLst/>
              </a:rPr>
              <a:t> and </a:t>
            </a:r>
            <a:r>
              <a:rPr kumimoji="0" lang="en-US" altLang="en-US" sz="2000" b="0" i="0" u="none" strike="noStrike" cap="none" normalizeH="0" baseline="0" dirty="0">
                <a:ln>
                  <a:noFill/>
                </a:ln>
                <a:solidFill>
                  <a:schemeClr val="tx1"/>
                </a:solidFill>
                <a:effectLst/>
                <a:latin typeface="Arial Unicode MS"/>
              </a:rPr>
              <a:t>Stage</a:t>
            </a:r>
            <a:r>
              <a:rPr kumimoji="0" lang="en-US" altLang="en-US" sz="2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Removed redundant features (e.g., Patient IDs and administrative columns).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Categorical Encoding:</a:t>
            </a:r>
            <a:r>
              <a:rPr kumimoji="0" lang="en-US" altLang="en-US" sz="2000" b="0" i="0" u="none" strike="noStrike" cap="none" normalizeH="0" baseline="0" dirty="0">
                <a:ln>
                  <a:noFill/>
                </a:ln>
                <a:solidFill>
                  <a:schemeClr val="tx1"/>
                </a:solidFill>
                <a:effectLst/>
                <a:latin typeface="Arial" panose="020B0604020202020204" pitchFamily="34" charset="0"/>
              </a:rPr>
              <a:t> * Converted text labels (e.g., </a:t>
            </a:r>
            <a:r>
              <a:rPr kumimoji="0" lang="en-US" altLang="en-US" sz="2000" b="0" i="0" u="none" strike="noStrike" cap="none" normalizeH="0" baseline="0" dirty="0">
                <a:ln>
                  <a:noFill/>
                </a:ln>
                <a:solidFill>
                  <a:schemeClr val="tx1"/>
                </a:solidFill>
                <a:effectLst/>
                <a:latin typeface="Arial Unicode MS"/>
              </a:rPr>
              <a:t>Living</a:t>
            </a:r>
            <a:r>
              <a:rPr kumimoji="0" lang="en-US" altLang="en-US" sz="2000" b="0" i="0" u="none" strike="noStrike" cap="none" normalizeH="0" baseline="0" dirty="0">
                <a:ln>
                  <a:noFill/>
                </a:ln>
                <a:solidFill>
                  <a:schemeClr val="tx1"/>
                </a:solidFill>
                <a:effectLst/>
              </a:rPr>
              <a:t> vs. </a:t>
            </a:r>
            <a:r>
              <a:rPr kumimoji="0" lang="en-US" altLang="en-US" sz="2000" b="0" i="0" u="none" strike="noStrike" cap="none" normalizeH="0" baseline="0" dirty="0">
                <a:ln>
                  <a:noFill/>
                </a:ln>
                <a:solidFill>
                  <a:schemeClr val="tx1"/>
                </a:solidFill>
                <a:effectLst/>
                <a:latin typeface="Arial Unicode MS"/>
              </a:rPr>
              <a:t>Deceased</a:t>
            </a:r>
            <a:r>
              <a:rPr kumimoji="0" lang="en-US" altLang="en-US" sz="2000" b="0" i="0" u="none" strike="noStrike" cap="none" normalizeH="0" baseline="0" dirty="0">
                <a:ln>
                  <a:noFill/>
                </a:ln>
                <a:solidFill>
                  <a:schemeClr val="tx1"/>
                </a:solidFill>
                <a:effectLst/>
              </a:rPr>
              <a:t>) into numerical values for the model.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Feature Selection:</a:t>
            </a:r>
            <a:r>
              <a:rPr kumimoji="0" lang="en-US" altLang="en-US" sz="2000" b="0" i="0" u="none" strike="noStrike" cap="none" normalizeH="0" baseline="0" dirty="0">
                <a:ln>
                  <a:noFill/>
                </a:ln>
                <a:solidFill>
                  <a:schemeClr val="tx1"/>
                </a:solidFill>
                <a:effectLst/>
                <a:latin typeface="Arial" panose="020B0604020202020204" pitchFamily="34" charset="0"/>
              </a:rPr>
              <a:t> * Filtered the 30+ columns down to the most clinically significant features: </a:t>
            </a:r>
            <a:r>
              <a:rPr kumimoji="0" lang="en-US" altLang="en-US" sz="2000" b="1" i="0" u="none" strike="noStrike" cap="none" normalizeH="0" baseline="0" dirty="0">
                <a:ln>
                  <a:noFill/>
                </a:ln>
                <a:solidFill>
                  <a:schemeClr val="tx1"/>
                </a:solidFill>
                <a:effectLst/>
                <a:latin typeface="Arial" panose="020B0604020202020204" pitchFamily="34" charset="0"/>
              </a:rPr>
              <a:t>Age, Tumor Size, and Stage.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The Tools: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Pandas</a:t>
            </a:r>
            <a:r>
              <a:rPr kumimoji="0" lang="en-US" altLang="en-US" sz="2000" b="0" i="0" u="none" strike="noStrike" cap="none" normalizeH="0" baseline="0" dirty="0">
                <a:ln>
                  <a:noFill/>
                </a:ln>
                <a:solidFill>
                  <a:schemeClr val="tx1"/>
                </a:solidFill>
                <a:effectLst/>
              </a:rPr>
              <a:t> and </a:t>
            </a:r>
            <a:r>
              <a:rPr kumimoji="0" lang="en-US" altLang="en-US" sz="2000" b="0" i="0" u="none" strike="noStrike" cap="none" normalizeH="0" baseline="0" dirty="0">
                <a:ln>
                  <a:noFill/>
                </a:ln>
                <a:solidFill>
                  <a:schemeClr val="tx1"/>
                </a:solidFill>
                <a:effectLst/>
                <a:latin typeface="Arial Unicode MS"/>
              </a:rPr>
              <a:t>NumPy</a:t>
            </a:r>
            <a:r>
              <a:rPr kumimoji="0" lang="en-US" altLang="en-US" sz="2000" b="0" i="0" u="none" strike="noStrike" cap="none" normalizeH="0" baseline="0" dirty="0">
                <a:ln>
                  <a:noFill/>
                </a:ln>
                <a:solidFill>
                  <a:schemeClr val="tx1"/>
                </a:solidFill>
                <a:effectLst/>
              </a:rPr>
              <a:t> in Python</a:t>
            </a:r>
            <a:r>
              <a:rPr kumimoji="0" lang="en-US" altLang="en-US" sz="2400" b="0" i="0" u="none" strike="noStrike" cap="none" normalizeH="0" baseline="0" dirty="0">
                <a:ln>
                  <a:noFill/>
                </a:ln>
                <a:solidFill>
                  <a:schemeClr val="tx1"/>
                </a:solidFill>
                <a:effectLst/>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2459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59D16-C1E8-8B92-02CF-8A1E669F30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D4806-E931-B2BF-B2EE-EDB8D89E1583}"/>
              </a:ext>
            </a:extLst>
          </p:cNvPr>
          <p:cNvSpPr>
            <a:spLocks noGrp="1"/>
          </p:cNvSpPr>
          <p:nvPr>
            <p:ph type="title"/>
          </p:nvPr>
        </p:nvSpPr>
        <p:spPr>
          <a:xfrm>
            <a:off x="381000" y="243840"/>
            <a:ext cx="11132118" cy="972601"/>
          </a:xfrm>
        </p:spPr>
        <p:txBody>
          <a:bodyPr/>
          <a:lstStyle/>
          <a:p>
            <a:r>
              <a:rPr lang="en-US" dirty="0"/>
              <a:t>Machine Learning – The Random Forest Model</a:t>
            </a:r>
            <a:endParaRPr lang="en-IN" dirty="0"/>
          </a:p>
        </p:txBody>
      </p:sp>
      <p:sp>
        <p:nvSpPr>
          <p:cNvPr id="4" name="Rectangle 1">
            <a:extLst>
              <a:ext uri="{FF2B5EF4-FFF2-40B4-BE49-F238E27FC236}">
                <a16:creationId xmlns:a16="http://schemas.microsoft.com/office/drawing/2014/main" id="{1EB92D3E-0449-F18D-C8B6-71340EAE5D67}"/>
              </a:ext>
            </a:extLst>
          </p:cNvPr>
          <p:cNvSpPr>
            <a:spLocks noGrp="1" noChangeArrowheads="1"/>
          </p:cNvSpPr>
          <p:nvPr>
            <p:ph idx="1"/>
          </p:nvPr>
        </p:nvSpPr>
        <p:spPr bwMode="auto">
          <a:xfrm>
            <a:off x="239486" y="1025691"/>
            <a:ext cx="611777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Algorithm Choice:</a:t>
            </a:r>
            <a:r>
              <a:rPr kumimoji="0" lang="en-US" altLang="en-US" sz="1800" b="0" i="0" u="none" strike="noStrike" cap="none" normalizeH="0" baseline="0" dirty="0">
                <a:ln>
                  <a:noFill/>
                </a:ln>
                <a:solidFill>
                  <a:schemeClr val="tx1"/>
                </a:solidFill>
                <a:effectLst/>
                <a:latin typeface="Arial" panose="020B0604020202020204" pitchFamily="34" charset="0"/>
              </a:rPr>
              <a:t> Random Forest Classifier.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Why Random Forest?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Handles Non-linearity:</a:t>
            </a:r>
            <a:r>
              <a:rPr kumimoji="0" lang="en-US" altLang="en-US" sz="1800" b="0" i="0" u="none" strike="noStrike" cap="none" normalizeH="0" baseline="0" dirty="0">
                <a:ln>
                  <a:noFill/>
                </a:ln>
                <a:solidFill>
                  <a:schemeClr val="tx1"/>
                </a:solidFill>
                <a:effectLst/>
                <a:latin typeface="Arial" panose="020B0604020202020204" pitchFamily="34" charset="0"/>
              </a:rPr>
              <a:t> Clinical data rarely follows a straight line; RF excels at complex patterns.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Ensemble Learning:</a:t>
            </a:r>
            <a:r>
              <a:rPr kumimoji="0" lang="en-US" altLang="en-US" sz="1800" b="0" i="0" u="none" strike="noStrike" cap="none" normalizeH="0" baseline="0" dirty="0">
                <a:ln>
                  <a:noFill/>
                </a:ln>
                <a:solidFill>
                  <a:schemeClr val="tx1"/>
                </a:solidFill>
                <a:effectLst/>
                <a:latin typeface="Arial" panose="020B0604020202020204" pitchFamily="34" charset="0"/>
              </a:rPr>
              <a:t> Uses 100+ "Decision Trees" to reduce errors and prevent overfitting.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 Importance:</a:t>
            </a:r>
            <a:r>
              <a:rPr kumimoji="0" lang="en-US" altLang="en-US" sz="1800" b="0" i="0" u="none" strike="noStrike" cap="none" normalizeH="0" baseline="0" dirty="0">
                <a:ln>
                  <a:noFill/>
                </a:ln>
                <a:solidFill>
                  <a:schemeClr val="tx1"/>
                </a:solidFill>
                <a:effectLst/>
                <a:latin typeface="Arial" panose="020B0604020202020204" pitchFamily="34" charset="0"/>
              </a:rPr>
              <a:t> Automatically identifies which clinical factors (like Stage) matter most.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Model Performance: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Accuracy:</a:t>
            </a:r>
            <a:r>
              <a:rPr kumimoji="0" lang="en-US" altLang="en-US" sz="1800" b="0" i="0" u="none" strike="noStrike" cap="none" normalizeH="0" baseline="0" dirty="0">
                <a:ln>
                  <a:noFill/>
                </a:ln>
                <a:solidFill>
                  <a:schemeClr val="tx1"/>
                </a:solidFill>
                <a:effectLst/>
                <a:latin typeface="Arial" panose="020B0604020202020204" pitchFamily="34" charset="0"/>
              </a:rPr>
              <a:t> 80.6%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Evaluation:</a:t>
            </a:r>
            <a:r>
              <a:rPr kumimoji="0" lang="en-US" altLang="en-US" sz="1800" b="0" i="0" u="none" strike="noStrike" cap="none" normalizeH="0" baseline="0" dirty="0">
                <a:ln>
                  <a:noFill/>
                </a:ln>
                <a:solidFill>
                  <a:schemeClr val="tx1"/>
                </a:solidFill>
                <a:effectLst/>
                <a:latin typeface="Arial" panose="020B0604020202020204" pitchFamily="34" charset="0"/>
              </a:rPr>
              <a:t> Used a 80-20 Train-Test split to ensure the model performs well on "unseen" patient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136EE3B1-6F0D-DEB4-64F6-9B778AEBB861}"/>
              </a:ext>
            </a:extLst>
          </p:cNvPr>
          <p:cNvPicPr>
            <a:picLocks noChangeAspect="1"/>
          </p:cNvPicPr>
          <p:nvPr/>
        </p:nvPicPr>
        <p:blipFill>
          <a:blip r:embed="rId2"/>
          <a:stretch>
            <a:fillRect/>
          </a:stretch>
        </p:blipFill>
        <p:spPr>
          <a:xfrm>
            <a:off x="5947059" y="1025691"/>
            <a:ext cx="5883510" cy="4806618"/>
          </a:xfrm>
          <a:prstGeom prst="rect">
            <a:avLst/>
          </a:prstGeom>
        </p:spPr>
      </p:pic>
    </p:spTree>
    <p:extLst>
      <p:ext uri="{BB962C8B-B14F-4D97-AF65-F5344CB8AC3E}">
        <p14:creationId xmlns:p14="http://schemas.microsoft.com/office/powerpoint/2010/main" val="937701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24B5A-BA18-86CB-DB84-AB4606924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93E8B-BC43-2CCE-67F4-A7BC9957A101}"/>
              </a:ext>
            </a:extLst>
          </p:cNvPr>
          <p:cNvSpPr>
            <a:spLocks noGrp="1"/>
          </p:cNvSpPr>
          <p:nvPr>
            <p:ph type="title"/>
          </p:nvPr>
        </p:nvSpPr>
        <p:spPr>
          <a:xfrm>
            <a:off x="395855" y="277094"/>
            <a:ext cx="10834234" cy="612775"/>
          </a:xfrm>
        </p:spPr>
        <p:txBody>
          <a:bodyPr/>
          <a:lstStyle/>
          <a:p>
            <a:r>
              <a:rPr lang="en-US" dirty="0"/>
              <a:t>Data Visualization – Clinical Power BI Dashboard</a:t>
            </a:r>
            <a:endParaRPr lang="en-IN" dirty="0"/>
          </a:p>
        </p:txBody>
      </p:sp>
      <p:sp>
        <p:nvSpPr>
          <p:cNvPr id="3" name="Content Placeholder 2">
            <a:extLst>
              <a:ext uri="{FF2B5EF4-FFF2-40B4-BE49-F238E27FC236}">
                <a16:creationId xmlns:a16="http://schemas.microsoft.com/office/drawing/2014/main" id="{BBAE8ADD-43CC-1B24-F745-CBC7E553196B}"/>
              </a:ext>
            </a:extLst>
          </p:cNvPr>
          <p:cNvSpPr>
            <a:spLocks noGrp="1"/>
          </p:cNvSpPr>
          <p:nvPr>
            <p:ph idx="1"/>
          </p:nvPr>
        </p:nvSpPr>
        <p:spPr>
          <a:xfrm>
            <a:off x="395855" y="1186543"/>
            <a:ext cx="6244431" cy="4985656"/>
          </a:xfrm>
          <a:prstGeom prst="rect">
            <a:avLst/>
          </a:prstGeom>
        </p:spPr>
        <p:txBody>
          <a:bodyPr>
            <a:normAutofit fontScale="77500" lnSpcReduction="2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b="1" dirty="0"/>
              <a:t>Objective:</a:t>
            </a:r>
            <a:r>
              <a:rPr lang="en-US" dirty="0"/>
              <a:t> To provide a 360-degree view of the METABRIC dataset for clinical researchers.</a:t>
            </a:r>
          </a:p>
          <a:p>
            <a:pPr marL="0" lvl="0" indent="0">
              <a:buNone/>
            </a:pPr>
            <a:endParaRPr lang="en-US" dirty="0"/>
          </a:p>
          <a:p>
            <a:pPr marL="0" lvl="0" indent="0" eaLnBrk="0" fontAlgn="base" hangingPunct="0">
              <a:lnSpc>
                <a:spcPct val="100000"/>
              </a:lnSpc>
              <a:spcBef>
                <a:spcPct val="0"/>
              </a:spcBef>
              <a:spcAft>
                <a:spcPct val="0"/>
              </a:spcAft>
              <a:buFontTx/>
              <a:buChar char="•"/>
            </a:pPr>
            <a:r>
              <a:rPr lang="en-US" altLang="en-US" b="1" u="sng" dirty="0">
                <a:solidFill>
                  <a:schemeClr val="tx1"/>
                </a:solidFill>
                <a:latin typeface="Arial" panose="020B0604020202020204" pitchFamily="34" charset="0"/>
              </a:rPr>
              <a:t>key Visuals Featured:</a:t>
            </a:r>
            <a:endParaRPr lang="en-US" altLang="en-US" u="sng"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b="1" dirty="0">
                <a:solidFill>
                  <a:schemeClr val="tx1"/>
                </a:solidFill>
                <a:latin typeface="Arial" panose="020B0604020202020204" pitchFamily="34" charset="0"/>
              </a:rPr>
              <a:t>Survival by Stage:</a:t>
            </a:r>
            <a:r>
              <a:rPr lang="en-US" altLang="en-US" dirty="0">
                <a:solidFill>
                  <a:schemeClr val="tx1"/>
                </a:solidFill>
                <a:latin typeface="Arial" panose="020B0604020202020204" pitchFamily="34" charset="0"/>
              </a:rPr>
              <a:t> A clear breakdown showing how mortality risk increases from Stage 1 to Stage 4.</a:t>
            </a:r>
          </a:p>
          <a:p>
            <a:pPr marL="0" lvl="0" indent="0" eaLnBrk="0" fontAlgn="base" hangingPunct="0">
              <a:lnSpc>
                <a:spcPct val="100000"/>
              </a:lnSpc>
              <a:spcBef>
                <a:spcPct val="0"/>
              </a:spcBef>
              <a:spcAft>
                <a:spcPct val="0"/>
              </a:spcAft>
              <a:buNone/>
            </a:pPr>
            <a:endParaRPr lang="en-US" altLang="en-US"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b="1" dirty="0">
                <a:solidFill>
                  <a:schemeClr val="tx1"/>
                </a:solidFill>
                <a:latin typeface="Arial" panose="020B0604020202020204" pitchFamily="34" charset="0"/>
              </a:rPr>
              <a:t>Age Demographics:</a:t>
            </a:r>
            <a:r>
              <a:rPr lang="en-US" altLang="en-US" dirty="0">
                <a:solidFill>
                  <a:schemeClr val="tx1"/>
                </a:solidFill>
                <a:latin typeface="Arial" panose="020B0604020202020204" pitchFamily="34" charset="0"/>
              </a:rPr>
              <a:t> Identifying the high-risk age groups (e.g., patients aged 60-75).</a:t>
            </a:r>
          </a:p>
          <a:p>
            <a:pPr marL="0" lvl="0" indent="0" eaLnBrk="0" fontAlgn="base" hangingPunct="0">
              <a:lnSpc>
                <a:spcPct val="100000"/>
              </a:lnSpc>
              <a:spcBef>
                <a:spcPct val="0"/>
              </a:spcBef>
              <a:spcAft>
                <a:spcPct val="0"/>
              </a:spcAft>
              <a:buFontTx/>
              <a:buChar char="•"/>
            </a:pPr>
            <a:endParaRPr lang="en-US" altLang="en-US"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b="1" dirty="0">
                <a:solidFill>
                  <a:schemeClr val="tx1"/>
                </a:solidFill>
                <a:latin typeface="Arial" panose="020B0604020202020204" pitchFamily="34" charset="0"/>
              </a:rPr>
              <a:t>Tumor Size Correlation:</a:t>
            </a:r>
            <a:r>
              <a:rPr lang="en-US" altLang="en-US" dirty="0">
                <a:solidFill>
                  <a:schemeClr val="tx1"/>
                </a:solidFill>
                <a:latin typeface="Arial" panose="020B0604020202020204" pitchFamily="34" charset="0"/>
              </a:rPr>
              <a:t> A scatter plot or bar chart showing the relationship between tumor dimensions and survival months.</a:t>
            </a:r>
          </a:p>
          <a:p>
            <a:pPr marL="0" lvl="0" indent="0" eaLnBrk="0" fontAlgn="base" hangingPunct="0">
              <a:lnSpc>
                <a:spcPct val="100000"/>
              </a:lnSpc>
              <a:spcBef>
                <a:spcPct val="0"/>
              </a:spcBef>
              <a:spcAft>
                <a:spcPct val="0"/>
              </a:spcAft>
              <a:buNone/>
            </a:pPr>
            <a:endParaRPr lang="en-US" altLang="en-US"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b="1" dirty="0">
                <a:solidFill>
                  <a:schemeClr val="tx1"/>
                </a:solidFill>
                <a:latin typeface="Arial" panose="020B0604020202020204" pitchFamily="34" charset="0"/>
              </a:rPr>
              <a:t>Impact:</a:t>
            </a:r>
            <a:r>
              <a:rPr lang="en-US" altLang="en-US" dirty="0">
                <a:solidFill>
                  <a:schemeClr val="tx1"/>
                </a:solidFill>
                <a:latin typeface="Arial" panose="020B0604020202020204" pitchFamily="34" charset="0"/>
              </a:rPr>
              <a:t> Enables "Evidence-Based" hospital management and resource allocation.</a:t>
            </a:r>
          </a:p>
          <a:p>
            <a:pPr lvl="0"/>
            <a:endParaRPr lang="en-US" dirty="0"/>
          </a:p>
        </p:txBody>
      </p:sp>
      <p:pic>
        <p:nvPicPr>
          <p:cNvPr id="6" name="Picture 5">
            <a:extLst>
              <a:ext uri="{FF2B5EF4-FFF2-40B4-BE49-F238E27FC236}">
                <a16:creationId xmlns:a16="http://schemas.microsoft.com/office/drawing/2014/main" id="{2DD6C911-575D-B5F3-4877-FA66046371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3200" y="889869"/>
            <a:ext cx="5431221" cy="5162588"/>
          </a:xfrm>
          <a:prstGeom prst="rect">
            <a:avLst/>
          </a:prstGeom>
        </p:spPr>
      </p:pic>
    </p:spTree>
    <p:extLst>
      <p:ext uri="{BB962C8B-B14F-4D97-AF65-F5344CB8AC3E}">
        <p14:creationId xmlns:p14="http://schemas.microsoft.com/office/powerpoint/2010/main" val="1301713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40938-790E-DECC-762B-9371CA2BB2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AEE0F-53F6-E066-345B-C119024655A7}"/>
              </a:ext>
            </a:extLst>
          </p:cNvPr>
          <p:cNvSpPr>
            <a:spLocks noGrp="1"/>
          </p:cNvSpPr>
          <p:nvPr>
            <p:ph type="title"/>
          </p:nvPr>
        </p:nvSpPr>
        <p:spPr/>
        <p:txBody>
          <a:bodyPr/>
          <a:lstStyle/>
          <a:p>
            <a:r>
              <a:rPr lang="en-US" dirty="0"/>
              <a:t>Model Deployment – </a:t>
            </a:r>
            <a:r>
              <a:rPr lang="en-US" dirty="0" err="1"/>
              <a:t>Streamlit</a:t>
            </a:r>
            <a:r>
              <a:rPr lang="en-US" dirty="0"/>
              <a:t> Web Application</a:t>
            </a:r>
            <a:endParaRPr lang="en-IN" dirty="0"/>
          </a:p>
        </p:txBody>
      </p:sp>
      <p:sp>
        <p:nvSpPr>
          <p:cNvPr id="4" name="Rectangle 1">
            <a:extLst>
              <a:ext uri="{FF2B5EF4-FFF2-40B4-BE49-F238E27FC236}">
                <a16:creationId xmlns:a16="http://schemas.microsoft.com/office/drawing/2014/main" id="{24E85C8B-5214-4A7B-592C-D2E003444DD3}"/>
              </a:ext>
            </a:extLst>
          </p:cNvPr>
          <p:cNvSpPr>
            <a:spLocks noGrp="1" noChangeArrowheads="1"/>
          </p:cNvSpPr>
          <p:nvPr>
            <p:ph idx="1"/>
          </p:nvPr>
        </p:nvSpPr>
        <p:spPr bwMode="auto">
          <a:xfrm>
            <a:off x="885712" y="6673334"/>
            <a:ext cx="54171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8F5815E-C44A-6348-8381-FFDE63FC5D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87886" y="1436915"/>
            <a:ext cx="5704114" cy="3984170"/>
          </a:xfrm>
          <a:prstGeom prst="rect">
            <a:avLst/>
          </a:prstGeom>
        </p:spPr>
      </p:pic>
      <p:sp>
        <p:nvSpPr>
          <p:cNvPr id="8" name="TextBox 7">
            <a:extLst>
              <a:ext uri="{FF2B5EF4-FFF2-40B4-BE49-F238E27FC236}">
                <a16:creationId xmlns:a16="http://schemas.microsoft.com/office/drawing/2014/main" id="{9A9A49BB-D0BA-3B6D-8761-642A5887C7E3}"/>
              </a:ext>
            </a:extLst>
          </p:cNvPr>
          <p:cNvSpPr txBox="1"/>
          <p:nvPr/>
        </p:nvSpPr>
        <p:spPr>
          <a:xfrm>
            <a:off x="304800" y="1318068"/>
            <a:ext cx="6096000" cy="452431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From Model to Product:</a:t>
            </a:r>
            <a:r>
              <a:rPr kumimoji="0" lang="en-US" altLang="en-US" sz="1800" b="0" i="0" u="none" strike="noStrike" cap="none" normalizeH="0" baseline="0" dirty="0">
                <a:ln>
                  <a:noFill/>
                </a:ln>
                <a:solidFill>
                  <a:schemeClr val="tx1"/>
                </a:solidFill>
                <a:effectLst/>
                <a:latin typeface="Arial" panose="020B0604020202020204" pitchFamily="34" charset="0"/>
              </a:rPr>
              <a:t> Bridging the gap between a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Notebook and a real-world user interface.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Core Functionality: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Interactive Inputs:</a:t>
            </a:r>
            <a:r>
              <a:rPr kumimoji="0" lang="en-US" altLang="en-US" sz="1800" b="0" i="0" u="none" strike="noStrike" cap="none" normalizeH="0" baseline="0" dirty="0">
                <a:ln>
                  <a:noFill/>
                </a:ln>
                <a:solidFill>
                  <a:schemeClr val="tx1"/>
                </a:solidFill>
                <a:effectLst/>
                <a:latin typeface="Arial" panose="020B0604020202020204" pitchFamily="34" charset="0"/>
              </a:rPr>
              <a:t> Sliders and number inputs for Age, Tumor Size, and Stage.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Instant Prediction:</a:t>
            </a:r>
            <a:r>
              <a:rPr kumimoji="0" lang="en-US" altLang="en-US" sz="1800" b="0" i="0" u="none" strike="noStrike" cap="none" normalizeH="0" baseline="0" dirty="0">
                <a:ln>
                  <a:noFill/>
                </a:ln>
                <a:solidFill>
                  <a:schemeClr val="tx1"/>
                </a:solidFill>
                <a:effectLst/>
                <a:latin typeface="Arial" panose="020B0604020202020204" pitchFamily="34" charset="0"/>
              </a:rPr>
              <a:t> The app calls the </a:t>
            </a:r>
            <a:r>
              <a:rPr kumimoji="0" lang="en-US" altLang="en-US" sz="1800" b="0" i="0" u="none" strike="noStrike" cap="none" normalizeH="0" baseline="0" dirty="0" err="1">
                <a:ln>
                  <a:noFill/>
                </a:ln>
                <a:solidFill>
                  <a:schemeClr val="tx1"/>
                </a:solidFill>
                <a:effectLst/>
                <a:latin typeface="Arial Unicode MS"/>
              </a:rPr>
              <a:t>breast_cancer_model.pkl</a:t>
            </a:r>
            <a:r>
              <a:rPr kumimoji="0" lang="en-US" altLang="en-US" sz="1800" b="0" i="0" u="none" strike="noStrike" cap="none" normalizeH="0" baseline="0" dirty="0">
                <a:ln>
                  <a:noFill/>
                </a:ln>
                <a:solidFill>
                  <a:schemeClr val="tx1"/>
                </a:solidFill>
                <a:effectLst/>
              </a:rPr>
              <a:t> "brain" to process data in real-time.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Outcome Visualization:</a:t>
            </a:r>
            <a:r>
              <a:rPr kumimoji="0" lang="en-US" altLang="en-US" sz="1800" b="0" i="0" u="none" strike="noStrike" cap="none" normalizeH="0" baseline="0" dirty="0">
                <a:ln>
                  <a:noFill/>
                </a:ln>
                <a:solidFill>
                  <a:schemeClr val="tx1"/>
                </a:solidFill>
                <a:effectLst/>
                <a:latin typeface="Arial" panose="020B0604020202020204" pitchFamily="34" charset="0"/>
              </a:rPr>
              <a:t> Displays survival probability and risk categories (High Risk vs. Likely to Survive).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"Localhost" Advantage:</a:t>
            </a:r>
            <a:r>
              <a:rPr kumimoji="0" lang="en-US" altLang="en-US" sz="1800" b="0" i="0" u="none" strike="noStrike" cap="none" normalizeH="0" baseline="0" dirty="0">
                <a:ln>
                  <a:noFill/>
                </a:ln>
                <a:solidFill>
                  <a:schemeClr val="tx1"/>
                </a:solidFill>
                <a:effectLst/>
                <a:latin typeface="Arial" panose="020B0604020202020204" pitchFamily="34" charset="0"/>
              </a:rPr>
              <a:t> Fast, responsive, and easy to demonstrate during a live presentation.</a:t>
            </a:r>
          </a:p>
        </p:txBody>
      </p:sp>
    </p:spTree>
    <p:extLst>
      <p:ext uri="{BB962C8B-B14F-4D97-AF65-F5344CB8AC3E}">
        <p14:creationId xmlns:p14="http://schemas.microsoft.com/office/powerpoint/2010/main" val="4199755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EC05C-D502-AE28-B5B4-FAEB9F70B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95A26-D63C-49C5-030E-AAFE83670C38}"/>
              </a:ext>
            </a:extLst>
          </p:cNvPr>
          <p:cNvSpPr>
            <a:spLocks noGrp="1"/>
          </p:cNvSpPr>
          <p:nvPr>
            <p:ph type="title"/>
          </p:nvPr>
        </p:nvSpPr>
        <p:spPr>
          <a:xfrm>
            <a:off x="391886" y="359230"/>
            <a:ext cx="11121232" cy="857212"/>
          </a:xfrm>
        </p:spPr>
        <p:txBody>
          <a:bodyPr/>
          <a:lstStyle/>
          <a:p>
            <a:r>
              <a:rPr lang="en-IN" dirty="0"/>
              <a:t>Model Evaluation &amp; Results</a:t>
            </a:r>
          </a:p>
        </p:txBody>
      </p:sp>
      <p:sp>
        <p:nvSpPr>
          <p:cNvPr id="4" name="Rectangle 1">
            <a:extLst>
              <a:ext uri="{FF2B5EF4-FFF2-40B4-BE49-F238E27FC236}">
                <a16:creationId xmlns:a16="http://schemas.microsoft.com/office/drawing/2014/main" id="{1A2B9887-EFE3-F332-C943-2E08E798EB3F}"/>
              </a:ext>
            </a:extLst>
          </p:cNvPr>
          <p:cNvSpPr>
            <a:spLocks noGrp="1" noChangeArrowheads="1"/>
          </p:cNvSpPr>
          <p:nvPr>
            <p:ph idx="1"/>
          </p:nvPr>
        </p:nvSpPr>
        <p:spPr bwMode="auto">
          <a:xfrm>
            <a:off x="206830" y="1750636"/>
            <a:ext cx="552994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Primary Metric: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80.6% Accuracy</a:t>
            </a:r>
            <a:r>
              <a:rPr kumimoji="0" lang="en-US" altLang="en-US" sz="1800" b="0" i="0" u="none" strike="noStrike" cap="none" normalizeH="0" baseline="0" dirty="0">
                <a:ln>
                  <a:noFill/>
                </a:ln>
                <a:solidFill>
                  <a:schemeClr val="tx1"/>
                </a:solidFill>
                <a:effectLst/>
                <a:latin typeface="Arial" panose="020B0604020202020204" pitchFamily="34" charset="0"/>
              </a:rPr>
              <a:t> on the Test Set.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Performance Indicators: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Precision &amp; Recall:</a:t>
            </a:r>
            <a:r>
              <a:rPr kumimoji="0" lang="en-US" altLang="en-US" sz="1800" b="0" i="0" u="none" strike="noStrike" cap="none" normalizeH="0" baseline="0" dirty="0">
                <a:ln>
                  <a:noFill/>
                </a:ln>
                <a:solidFill>
                  <a:schemeClr val="tx1"/>
                </a:solidFill>
                <a:effectLst/>
                <a:latin typeface="Arial" panose="020B0604020202020204" pitchFamily="34" charset="0"/>
              </a:rPr>
              <a:t> Balanced performance to ensure the model doesn't miss "High-Risk" cases.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Confusion Matrix:</a:t>
            </a:r>
            <a:r>
              <a:rPr kumimoji="0" lang="en-US" altLang="en-US" sz="1800" b="0" i="0" u="none" strike="noStrike" cap="none" normalizeH="0" baseline="0" dirty="0">
                <a:ln>
                  <a:noFill/>
                </a:ln>
                <a:solidFill>
                  <a:schemeClr val="tx1"/>
                </a:solidFill>
                <a:effectLst/>
                <a:latin typeface="Arial" panose="020B0604020202020204" pitchFamily="34" charset="0"/>
              </a:rPr>
              <a:t> Shows exactly where the model predicted "Living" vs. "Deceased" correctly.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 Importance (Top 3):</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Tumor Stage:</a:t>
            </a:r>
            <a:r>
              <a:rPr kumimoji="0" lang="en-US" altLang="en-US" sz="1800" b="0" i="0" u="none" strike="noStrike" cap="none" normalizeH="0" baseline="0" dirty="0">
                <a:ln>
                  <a:noFill/>
                </a:ln>
                <a:solidFill>
                  <a:schemeClr val="tx1"/>
                </a:solidFill>
                <a:effectLst/>
                <a:latin typeface="Arial" panose="020B0604020202020204" pitchFamily="34" charset="0"/>
              </a:rPr>
              <a:t> The strongest predictor of survival.</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Age at Diagnosis:</a:t>
            </a:r>
            <a:r>
              <a:rPr kumimoji="0" lang="en-US" altLang="en-US" sz="1800" b="0" i="0" u="none" strike="noStrike" cap="none" normalizeH="0" baseline="0" dirty="0">
                <a:ln>
                  <a:noFill/>
                </a:ln>
                <a:solidFill>
                  <a:schemeClr val="tx1"/>
                </a:solidFill>
                <a:effectLst/>
                <a:latin typeface="Arial" panose="020B0604020202020204" pitchFamily="34" charset="0"/>
              </a:rPr>
              <a:t> Significant impact on long-term recovery.</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Tumor Size:</a:t>
            </a:r>
            <a:r>
              <a:rPr kumimoji="0" lang="en-US" altLang="en-US" sz="1800" b="0" i="0" u="none" strike="noStrike" cap="none" normalizeH="0" baseline="0" dirty="0">
                <a:ln>
                  <a:noFill/>
                </a:ln>
                <a:solidFill>
                  <a:schemeClr val="tx1"/>
                </a:solidFill>
                <a:effectLst/>
                <a:latin typeface="Arial" panose="020B0604020202020204" pitchFamily="34" charset="0"/>
              </a:rPr>
              <a:t> Directly correlated with surgical outcomes.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173" name="Picture 5">
            <a:extLst>
              <a:ext uri="{FF2B5EF4-FFF2-40B4-BE49-F238E27FC236}">
                <a16:creationId xmlns:a16="http://schemas.microsoft.com/office/drawing/2014/main" id="{465F1126-C001-6127-2246-52667CCD7F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1" y="1216442"/>
            <a:ext cx="5642020" cy="4052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681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5A186-5771-9FFE-0C8B-94D33732EC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5AAAF-0A53-8B57-4F20-E748BE0D742E}"/>
              </a:ext>
            </a:extLst>
          </p:cNvPr>
          <p:cNvSpPr>
            <a:spLocks noGrp="1"/>
          </p:cNvSpPr>
          <p:nvPr>
            <p:ph type="title"/>
          </p:nvPr>
        </p:nvSpPr>
        <p:spPr>
          <a:xfrm>
            <a:off x="381000" y="603666"/>
            <a:ext cx="11132118" cy="800591"/>
          </a:xfrm>
        </p:spPr>
        <p:txBody>
          <a:bodyPr/>
          <a:lstStyle/>
          <a:p>
            <a:r>
              <a:rPr lang="en-IN" dirty="0"/>
              <a:t>Conclusion &amp; Future Scope</a:t>
            </a:r>
          </a:p>
        </p:txBody>
      </p:sp>
      <p:sp>
        <p:nvSpPr>
          <p:cNvPr id="4" name="Rectangle 1">
            <a:extLst>
              <a:ext uri="{FF2B5EF4-FFF2-40B4-BE49-F238E27FC236}">
                <a16:creationId xmlns:a16="http://schemas.microsoft.com/office/drawing/2014/main" id="{6C777D89-2B53-E5C3-A735-D3A0AC543007}"/>
              </a:ext>
            </a:extLst>
          </p:cNvPr>
          <p:cNvSpPr>
            <a:spLocks noGrp="1" noChangeArrowheads="1"/>
          </p:cNvSpPr>
          <p:nvPr>
            <p:ph idx="1"/>
          </p:nvPr>
        </p:nvSpPr>
        <p:spPr bwMode="auto">
          <a:xfrm>
            <a:off x="500743" y="1750638"/>
            <a:ext cx="1101180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Achievements: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End-to-End Delivery:</a:t>
            </a:r>
            <a:r>
              <a:rPr kumimoji="0" lang="en-US" altLang="en-US" sz="1800" b="0" i="0" u="none" strike="noStrike" cap="none" normalizeH="0" baseline="0" dirty="0">
                <a:ln>
                  <a:noFill/>
                </a:ln>
                <a:solidFill>
                  <a:schemeClr val="tx1"/>
                </a:solidFill>
                <a:effectLst/>
                <a:latin typeface="Arial" panose="020B0604020202020204" pitchFamily="34" charset="0"/>
              </a:rPr>
              <a:t> Successfully moved from raw METABRIC data to a live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app.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High Fidelity:</a:t>
            </a:r>
            <a:r>
              <a:rPr kumimoji="0" lang="en-US" altLang="en-US" sz="1800" b="0" i="0" u="none" strike="noStrike" cap="none" normalizeH="0" baseline="0" dirty="0">
                <a:ln>
                  <a:noFill/>
                </a:ln>
                <a:solidFill>
                  <a:schemeClr val="tx1"/>
                </a:solidFill>
                <a:effectLst/>
                <a:latin typeface="Arial" panose="020B0604020202020204" pitchFamily="34" charset="0"/>
              </a:rPr>
              <a:t> Developed a robust </a:t>
            </a:r>
            <a:r>
              <a:rPr kumimoji="0" lang="en-US" altLang="en-US" sz="1800" b="1" i="0" u="none" strike="noStrike" cap="none" normalizeH="0" baseline="0" dirty="0">
                <a:ln>
                  <a:noFill/>
                </a:ln>
                <a:solidFill>
                  <a:schemeClr val="tx1"/>
                </a:solidFill>
                <a:effectLst/>
                <a:latin typeface="Arial" panose="020B0604020202020204" pitchFamily="34" charset="0"/>
              </a:rPr>
              <a:t>Random Forest</a:t>
            </a:r>
            <a:r>
              <a:rPr kumimoji="0" lang="en-US" altLang="en-US" sz="1800" b="0" i="0" u="none" strike="noStrike" cap="none" normalizeH="0" baseline="0" dirty="0">
                <a:ln>
                  <a:noFill/>
                </a:ln>
                <a:solidFill>
                  <a:schemeClr val="tx1"/>
                </a:solidFill>
                <a:effectLst/>
                <a:latin typeface="Arial" panose="020B0604020202020204" pitchFamily="34" charset="0"/>
              </a:rPr>
              <a:t> model with </a:t>
            </a:r>
            <a:r>
              <a:rPr kumimoji="0" lang="en-US" altLang="en-US" sz="1800" b="1" i="0" u="none" strike="noStrike" cap="none" normalizeH="0" baseline="0" dirty="0">
                <a:ln>
                  <a:noFill/>
                </a:ln>
                <a:solidFill>
                  <a:schemeClr val="tx1"/>
                </a:solidFill>
                <a:effectLst/>
                <a:latin typeface="Arial" panose="020B0604020202020204" pitchFamily="34" charset="0"/>
              </a:rPr>
              <a:t>80.6% accuracy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Clinical Integration:</a:t>
            </a:r>
            <a:r>
              <a:rPr kumimoji="0" lang="en-US" altLang="en-US" sz="1800" b="0" i="0" u="none" strike="noStrike" cap="none" normalizeH="0" baseline="0" dirty="0">
                <a:ln>
                  <a:noFill/>
                </a:ln>
                <a:solidFill>
                  <a:schemeClr val="tx1"/>
                </a:solidFill>
                <a:effectLst/>
                <a:latin typeface="Arial" panose="020B0604020202020204" pitchFamily="34" charset="0"/>
              </a:rPr>
              <a:t> Created a </a:t>
            </a:r>
            <a:r>
              <a:rPr kumimoji="0" lang="en-US" altLang="en-US" sz="1800" b="1" i="0" u="none" strike="noStrike" cap="none" normalizeH="0" baseline="0" dirty="0">
                <a:ln>
                  <a:noFill/>
                </a:ln>
                <a:solidFill>
                  <a:schemeClr val="tx1"/>
                </a:solidFill>
                <a:effectLst/>
                <a:latin typeface="Arial" panose="020B0604020202020204" pitchFamily="34" charset="0"/>
              </a:rPr>
              <a:t>Power BI</a:t>
            </a:r>
            <a:r>
              <a:rPr kumimoji="0" lang="en-US" altLang="en-US" sz="1800" b="0" i="0" u="none" strike="noStrike" cap="none" normalizeH="0" baseline="0" dirty="0">
                <a:ln>
                  <a:noFill/>
                </a:ln>
                <a:solidFill>
                  <a:schemeClr val="tx1"/>
                </a:solidFill>
                <a:effectLst/>
                <a:latin typeface="Arial" panose="020B0604020202020204" pitchFamily="34" charset="0"/>
              </a:rPr>
              <a:t> dashboard for retrospective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Future Scope: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Genomic Integration:</a:t>
            </a:r>
            <a:r>
              <a:rPr kumimoji="0" lang="en-US" altLang="en-US" sz="1800" b="0" i="0" u="none" strike="noStrike" cap="none" normalizeH="0" baseline="0" dirty="0">
                <a:ln>
                  <a:noFill/>
                </a:ln>
                <a:solidFill>
                  <a:schemeClr val="tx1"/>
                </a:solidFill>
                <a:effectLst/>
                <a:latin typeface="Arial" panose="020B0604020202020204" pitchFamily="34" charset="0"/>
              </a:rPr>
              <a:t> Incorporating DNA mutation data for deeper survival insights.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Cloud Deployment:</a:t>
            </a:r>
            <a:r>
              <a:rPr kumimoji="0" lang="en-US" altLang="en-US" sz="1800" b="0" i="0" u="none" strike="noStrike" cap="none" normalizeH="0" baseline="0" dirty="0">
                <a:ln>
                  <a:noFill/>
                </a:ln>
                <a:solidFill>
                  <a:schemeClr val="tx1"/>
                </a:solidFill>
                <a:effectLst/>
                <a:latin typeface="Arial" panose="020B0604020202020204" pitchFamily="34" charset="0"/>
              </a:rPr>
              <a:t> Moving the </a:t>
            </a: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app from "Localhost" to </a:t>
            </a:r>
            <a:r>
              <a:rPr kumimoji="0" lang="en-US" altLang="en-US" sz="1800" b="1" i="0" u="none" strike="noStrike" cap="none" normalizeH="0" baseline="0" dirty="0">
                <a:ln>
                  <a:noFill/>
                </a:ln>
                <a:solidFill>
                  <a:schemeClr val="tx1"/>
                </a:solidFill>
                <a:effectLst/>
                <a:latin typeface="Arial" panose="020B0604020202020204" pitchFamily="34" charset="0"/>
              </a:rPr>
              <a:t>Azure/AWS</a:t>
            </a:r>
            <a:r>
              <a:rPr kumimoji="0" lang="en-US" altLang="en-US" sz="1800" b="0" i="0" u="none" strike="noStrike" cap="none" normalizeH="0" baseline="0" dirty="0">
                <a:ln>
                  <a:noFill/>
                </a:ln>
                <a:solidFill>
                  <a:schemeClr val="tx1"/>
                </a:solidFill>
                <a:effectLst/>
                <a:latin typeface="Arial" panose="020B0604020202020204" pitchFamily="34" charset="0"/>
              </a:rPr>
              <a:t> for hospital-wide access.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Data:</a:t>
            </a:r>
            <a:r>
              <a:rPr kumimoji="0" lang="en-US" altLang="en-US" sz="1800" b="0" i="0" u="none" strike="noStrike" cap="none" normalizeH="0" baseline="0" dirty="0">
                <a:ln>
                  <a:noFill/>
                </a:ln>
                <a:solidFill>
                  <a:schemeClr val="tx1"/>
                </a:solidFill>
                <a:effectLst/>
                <a:latin typeface="Arial" panose="020B0604020202020204" pitchFamily="34" charset="0"/>
              </a:rPr>
              <a:t> Connecting the dashboard to live hospital databases via API.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01583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CDD67-15FE-0B08-CA33-02F0FBA65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D4AC6-ECF4-A59C-08F9-585C2F19B63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454EE72-D797-5682-D7CA-8907F4BE579E}"/>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endParaRPr lang="en-US" dirty="0"/>
          </a:p>
        </p:txBody>
      </p:sp>
    </p:spTree>
    <p:extLst>
      <p:ext uri="{BB962C8B-B14F-4D97-AF65-F5344CB8AC3E}">
        <p14:creationId xmlns:p14="http://schemas.microsoft.com/office/powerpoint/2010/main" val="745856995"/>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6936</TotalTime>
  <Words>772</Words>
  <Application>Microsoft Office PowerPoint</Application>
  <PresentationFormat>Widescreen</PresentationFormat>
  <Paragraphs>94</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Arial Unicode MS</vt:lpstr>
      <vt:lpstr>Calibri</vt:lpstr>
      <vt:lpstr>BIA Template</vt:lpstr>
      <vt:lpstr>PowerPoint Presentation</vt:lpstr>
      <vt:lpstr>Objective: To showcase a complete Data Science lifecycle from raw CSV to a deployed user interface.</vt:lpstr>
      <vt:lpstr>Problem Statement &amp; Dataset Profile</vt:lpstr>
      <vt:lpstr>Data Preprocessing &amp; Feature Engineering</vt:lpstr>
      <vt:lpstr>Machine Learning – The Random Forest Model</vt:lpstr>
      <vt:lpstr>Data Visualization – Clinical Power BI Dashboard</vt:lpstr>
      <vt:lpstr>Model Deployment – Streamlit Web Application</vt:lpstr>
      <vt:lpstr>Model Evaluation &amp; Results</vt:lpstr>
      <vt:lpstr>Conclusion &amp; Future Scope</vt:lpstr>
      <vt:lpstr> Questions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Mahreen Mariyam</cp:lastModifiedBy>
  <cp:revision>2255</cp:revision>
  <dcterms:created xsi:type="dcterms:W3CDTF">2020-12-23T13:36:00Z</dcterms:created>
  <dcterms:modified xsi:type="dcterms:W3CDTF">2026-03-27T04:00:19Z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